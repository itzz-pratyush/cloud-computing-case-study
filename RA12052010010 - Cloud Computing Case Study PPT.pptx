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4630400" cy="8229600"/>
  <p:notesSz cx="8229600" cy="14630400"/>
  <p:embeddedFontLst>
    <p:embeddedFont>
      <p:font typeface="Prompt Light" panose="00000400000000000000" pitchFamily="2" charset="-34"/>
      <p:regular r:id="rId14"/>
    </p:embeddedFont>
    <p:embeddedFont>
      <p:font typeface="Prompt Medium" panose="00000600000000000000" pitchFamily="2" charset="-3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48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8981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AF582-7566-0611-B206-22EA5E9ED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1D5F7B-C1CB-944D-2EC6-38E2C5818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BEFA4-05B3-759E-2800-2EFA25001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770AB-7A4F-B79D-AACE-1373890379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4015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50437" y="1393259"/>
            <a:ext cx="6514624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Cloud Data Architecture</a:t>
            </a:r>
            <a:endParaRPr lang="en-US" sz="4300" dirty="0"/>
          </a:p>
        </p:txBody>
      </p:sp>
      <p:sp>
        <p:nvSpPr>
          <p:cNvPr id="4" name="Text 1"/>
          <p:cNvSpPr/>
          <p:nvPr/>
        </p:nvSpPr>
        <p:spPr>
          <a:xfrm>
            <a:off x="8360108" y="2342376"/>
            <a:ext cx="290595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E-Commerce Platform</a:t>
            </a:r>
            <a:endParaRPr lang="en-US" sz="2150" dirty="0"/>
          </a:p>
        </p:txBody>
      </p:sp>
      <p:sp>
        <p:nvSpPr>
          <p:cNvPr id="5" name="Text 2"/>
          <p:cNvSpPr/>
          <p:nvPr/>
        </p:nvSpPr>
        <p:spPr>
          <a:xfrm>
            <a:off x="6350437" y="2918465"/>
            <a:ext cx="7415927" cy="790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Scalable data infrastructure handling </a:t>
            </a:r>
            <a:r>
              <a:rPr lang="en-US" sz="1900" b="1" dirty="0">
                <a:solidFill>
                  <a:srgbClr val="EEAEF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2.8 TB daily</a:t>
            </a: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across AWS services in ap-south-1 region.</a:t>
            </a:r>
            <a:endParaRPr lang="en-US" sz="1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332CC4-3F51-05C6-ABF9-E7D5A3ACD8AB}"/>
              </a:ext>
            </a:extLst>
          </p:cNvPr>
          <p:cNvSpPr txBox="1"/>
          <p:nvPr/>
        </p:nvSpPr>
        <p:spPr>
          <a:xfrm>
            <a:off x="10058400" y="5521951"/>
            <a:ext cx="5022651" cy="2152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700"/>
              </a:lnSpc>
            </a:pPr>
            <a: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Pratyush De - RA2512052010010</a:t>
            </a:r>
            <a:b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</a:br>
            <a: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Soham </a:t>
            </a:r>
            <a:r>
              <a:rPr lang="en-US" dirty="0" err="1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Randive</a:t>
            </a:r>
            <a:r>
              <a:rPr lang="en-US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 - RA2512052010049</a:t>
            </a:r>
            <a:b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</a:br>
            <a: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Om Prakash Choudhury - RA2512052010035</a:t>
            </a:r>
            <a:b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</a:br>
            <a: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Soumya Rawat - RA2512052010056</a:t>
            </a:r>
            <a:b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</a:br>
            <a: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Sudhansu Sharma - RA2512052010054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DC8ED9-69B8-255F-54B9-4340141193CE}"/>
              </a:ext>
            </a:extLst>
          </p:cNvPr>
          <p:cNvSpPr txBox="1"/>
          <p:nvPr/>
        </p:nvSpPr>
        <p:spPr>
          <a:xfrm>
            <a:off x="7315200" y="4276487"/>
            <a:ext cx="6919815" cy="444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4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Cloud Computing for Data 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51284" y="780336"/>
            <a:ext cx="4770715" cy="596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50"/>
              </a:lnSpc>
              <a:buNone/>
            </a:pPr>
            <a:r>
              <a:rPr lang="en-US" sz="37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Data Sources</a:t>
            </a:r>
            <a:endParaRPr lang="en-US" sz="3750" dirty="0"/>
          </a:p>
        </p:txBody>
      </p:sp>
      <p:sp>
        <p:nvSpPr>
          <p:cNvPr id="4" name="Text 1"/>
          <p:cNvSpPr/>
          <p:nvPr/>
        </p:nvSpPr>
        <p:spPr>
          <a:xfrm>
            <a:off x="751284" y="1656517"/>
            <a:ext cx="7641431" cy="320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Multiple high-volume data streams feeding the platform daily:</a:t>
            </a:r>
            <a:endParaRPr lang="en-US" sz="1650" dirty="0"/>
          </a:p>
        </p:txBody>
      </p:sp>
      <p:sp>
        <p:nvSpPr>
          <p:cNvPr id="5" name="Shape 2"/>
          <p:cNvSpPr/>
          <p:nvPr/>
        </p:nvSpPr>
        <p:spPr>
          <a:xfrm>
            <a:off x="751284" y="2187416"/>
            <a:ext cx="7641431" cy="1175504"/>
          </a:xfrm>
          <a:prstGeom prst="roundRect">
            <a:avLst>
              <a:gd name="adj" fmla="val 7671"/>
            </a:avLst>
          </a:prstGeom>
          <a:solidFill>
            <a:srgbClr val="542C49"/>
          </a:solidFill>
          <a:ln w="7620">
            <a:solidFill>
              <a:srgbClr val="6D456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73574" y="2409706"/>
            <a:ext cx="2385298" cy="298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Web Logs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973574" y="2819638"/>
            <a:ext cx="7196852" cy="320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2 TB per day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751284" y="3549491"/>
            <a:ext cx="7641431" cy="1175504"/>
          </a:xfrm>
          <a:prstGeom prst="roundRect">
            <a:avLst>
              <a:gd name="adj" fmla="val 7671"/>
            </a:avLst>
          </a:prstGeom>
          <a:solidFill>
            <a:srgbClr val="542C49"/>
          </a:solidFill>
          <a:ln w="7620">
            <a:solidFill>
              <a:srgbClr val="6D456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73574" y="3771781"/>
            <a:ext cx="2385298" cy="298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Transactions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973574" y="4181713"/>
            <a:ext cx="7196852" cy="320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500 GB per day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751284" y="4911566"/>
            <a:ext cx="7641431" cy="1175504"/>
          </a:xfrm>
          <a:prstGeom prst="roundRect">
            <a:avLst>
              <a:gd name="adj" fmla="val 7671"/>
            </a:avLst>
          </a:prstGeom>
          <a:solidFill>
            <a:srgbClr val="542C49"/>
          </a:solidFill>
          <a:ln w="7620">
            <a:solidFill>
              <a:srgbClr val="6D456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73574" y="5133856"/>
            <a:ext cx="2385298" cy="298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Customer Reviews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973574" y="5543788"/>
            <a:ext cx="7196852" cy="320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200 GB per day</a:t>
            </a:r>
            <a:endParaRPr lang="en-US" sz="1650" dirty="0"/>
          </a:p>
        </p:txBody>
      </p:sp>
      <p:sp>
        <p:nvSpPr>
          <p:cNvPr id="14" name="Shape 11"/>
          <p:cNvSpPr/>
          <p:nvPr/>
        </p:nvSpPr>
        <p:spPr>
          <a:xfrm>
            <a:off x="751284" y="6273641"/>
            <a:ext cx="7641431" cy="1175504"/>
          </a:xfrm>
          <a:prstGeom prst="roundRect">
            <a:avLst>
              <a:gd name="adj" fmla="val 7671"/>
            </a:avLst>
          </a:prstGeom>
          <a:solidFill>
            <a:srgbClr val="542C49"/>
          </a:solidFill>
          <a:ln w="7620">
            <a:solidFill>
              <a:srgbClr val="6D456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73574" y="6495931"/>
            <a:ext cx="2385298" cy="298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Social Media Feeds</a:t>
            </a:r>
            <a:endParaRPr lang="en-US" sz="1850" dirty="0"/>
          </a:p>
        </p:txBody>
      </p:sp>
      <p:sp>
        <p:nvSpPr>
          <p:cNvPr id="16" name="Text 13"/>
          <p:cNvSpPr/>
          <p:nvPr/>
        </p:nvSpPr>
        <p:spPr>
          <a:xfrm>
            <a:off x="973574" y="6905863"/>
            <a:ext cx="7196852" cy="3209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100 GB per day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4452E-9ECA-B3FC-BFB8-41EC63984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73F5EC4-55BE-71F9-DA17-E9358164A004}"/>
              </a:ext>
            </a:extLst>
          </p:cNvPr>
          <p:cNvSpPr/>
          <p:nvPr/>
        </p:nvSpPr>
        <p:spPr>
          <a:xfrm>
            <a:off x="751284" y="780336"/>
            <a:ext cx="4770715" cy="5962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000" b="1" dirty="0">
                <a:solidFill>
                  <a:srgbClr val="EEAEF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Proposed Architecture </a:t>
            </a:r>
            <a:endParaRPr lang="en-US" sz="40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ADA5A37-7DD0-51C7-A07B-5FF43BEF9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4356" y="1657978"/>
            <a:ext cx="8460725" cy="6229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54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037" y="1027509"/>
            <a:ext cx="54864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Ingestion Layer</a:t>
            </a:r>
            <a:endParaRPr lang="en-US" sz="4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37" y="2361248"/>
            <a:ext cx="8175665" cy="45630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49539" y="3156704"/>
            <a:ext cx="290131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Streaming &amp; Queuing</a:t>
            </a:r>
            <a:endParaRPr lang="en-US" sz="2150" dirty="0"/>
          </a:p>
        </p:txBody>
      </p:sp>
      <p:sp>
        <p:nvSpPr>
          <p:cNvPr id="5" name="Text 2"/>
          <p:cNvSpPr/>
          <p:nvPr/>
        </p:nvSpPr>
        <p:spPr>
          <a:xfrm>
            <a:off x="9649539" y="3746421"/>
            <a:ext cx="4124325" cy="2542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0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AWS Kinesis</a:t>
            </a: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for real-time streaming ingestion</a:t>
            </a:r>
            <a:endParaRPr lang="en-US" sz="1900" dirty="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0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Apache Kafka / MSK</a:t>
            </a: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message queue for reliable delivery</a:t>
            </a:r>
            <a:endParaRPr lang="en-US" sz="1900" dirty="0"/>
          </a:p>
          <a:p>
            <a:pPr marL="342900" indent="-342900" algn="l">
              <a:lnSpc>
                <a:spcPts val="3100"/>
              </a:lnSpc>
              <a:buSzPct val="100000"/>
              <a:buChar char="•"/>
            </a:pPr>
            <a:r>
              <a:rPr lang="en-US" sz="190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AWS Glue / Batch ETL</a:t>
            </a: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for scheduled batch processing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5225" y="687586"/>
            <a:ext cx="5367099" cy="670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Storage Layer</a:t>
            </a:r>
            <a:endParaRPr lang="en-US" sz="4200" dirty="0"/>
          </a:p>
        </p:txBody>
      </p:sp>
      <p:sp>
        <p:nvSpPr>
          <p:cNvPr id="4" name="Shape 1"/>
          <p:cNvSpPr/>
          <p:nvPr/>
        </p:nvSpPr>
        <p:spPr>
          <a:xfrm>
            <a:off x="845225" y="1712833"/>
            <a:ext cx="7453551" cy="1785580"/>
          </a:xfrm>
          <a:prstGeom prst="roundRect">
            <a:avLst>
              <a:gd name="adj" fmla="val 5681"/>
            </a:avLst>
          </a:prstGeom>
          <a:solidFill>
            <a:srgbClr val="0B0C23">
              <a:alpha val="95000"/>
            </a:srgbClr>
          </a:solidFill>
          <a:ln w="30480">
            <a:solidFill>
              <a:srgbClr val="6D456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75705" y="1743313"/>
            <a:ext cx="966073" cy="1724620"/>
          </a:xfrm>
          <a:prstGeom prst="roundRect">
            <a:avLst>
              <a:gd name="adj" fmla="val 6714"/>
            </a:avLst>
          </a:prstGeom>
          <a:solidFill>
            <a:srgbClr val="542C49"/>
          </a:solidFill>
          <a:ln/>
        </p:spPr>
      </p:sp>
      <p:sp>
        <p:nvSpPr>
          <p:cNvPr id="6" name="Text 3"/>
          <p:cNvSpPr/>
          <p:nvPr/>
        </p:nvSpPr>
        <p:spPr>
          <a:xfrm>
            <a:off x="1173837" y="2379226"/>
            <a:ext cx="362188" cy="45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1</a:t>
            </a:r>
            <a:endParaRPr lang="en-US" sz="2850" dirty="0"/>
          </a:p>
        </p:txBody>
      </p:sp>
      <p:sp>
        <p:nvSpPr>
          <p:cNvPr id="7" name="Text 4"/>
          <p:cNvSpPr/>
          <p:nvPr/>
        </p:nvSpPr>
        <p:spPr>
          <a:xfrm>
            <a:off x="2077998" y="1984772"/>
            <a:ext cx="2683550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S3 Data Lake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2077998" y="2461855"/>
            <a:ext cx="5948839" cy="764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Raw and processed data zones with petabyte-scale storage at low cost.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845225" y="3734633"/>
            <a:ext cx="7453551" cy="1785580"/>
          </a:xfrm>
          <a:prstGeom prst="roundRect">
            <a:avLst>
              <a:gd name="adj" fmla="val 5681"/>
            </a:avLst>
          </a:prstGeom>
          <a:solidFill>
            <a:srgbClr val="0B0C23">
              <a:alpha val="95000"/>
            </a:srgbClr>
          </a:solidFill>
          <a:ln w="30480">
            <a:solidFill>
              <a:srgbClr val="6D456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5705" y="3765113"/>
            <a:ext cx="966073" cy="1724620"/>
          </a:xfrm>
          <a:prstGeom prst="roundRect">
            <a:avLst>
              <a:gd name="adj" fmla="val 6714"/>
            </a:avLst>
          </a:prstGeom>
          <a:solidFill>
            <a:srgbClr val="542C49"/>
          </a:solidFill>
          <a:ln/>
        </p:spPr>
      </p:sp>
      <p:sp>
        <p:nvSpPr>
          <p:cNvPr id="11" name="Text 8"/>
          <p:cNvSpPr/>
          <p:nvPr/>
        </p:nvSpPr>
        <p:spPr>
          <a:xfrm>
            <a:off x="1173837" y="4401026"/>
            <a:ext cx="362188" cy="45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2</a:t>
            </a:r>
            <a:endParaRPr lang="en-US" sz="2850" dirty="0"/>
          </a:p>
        </p:txBody>
      </p:sp>
      <p:sp>
        <p:nvSpPr>
          <p:cNvPr id="12" name="Text 9"/>
          <p:cNvSpPr/>
          <p:nvPr/>
        </p:nvSpPr>
        <p:spPr>
          <a:xfrm>
            <a:off x="2077998" y="4006572"/>
            <a:ext cx="2683550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RDS + DynamoDB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077998" y="4483656"/>
            <a:ext cx="5948839" cy="764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Structured transaction storage with unified single customer view.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845225" y="5756434"/>
            <a:ext cx="7453551" cy="1785580"/>
          </a:xfrm>
          <a:prstGeom prst="roundRect">
            <a:avLst>
              <a:gd name="adj" fmla="val 5681"/>
            </a:avLst>
          </a:prstGeom>
          <a:solidFill>
            <a:srgbClr val="0B0C23">
              <a:alpha val="95000"/>
            </a:srgbClr>
          </a:solidFill>
          <a:ln w="30480">
            <a:solidFill>
              <a:srgbClr val="6D456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75705" y="5786914"/>
            <a:ext cx="966073" cy="1724620"/>
          </a:xfrm>
          <a:prstGeom prst="roundRect">
            <a:avLst>
              <a:gd name="adj" fmla="val 6714"/>
            </a:avLst>
          </a:prstGeom>
          <a:solidFill>
            <a:srgbClr val="542C49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837" y="6422827"/>
            <a:ext cx="362188" cy="45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3</a:t>
            </a:r>
            <a:endParaRPr lang="en-US" sz="2850" dirty="0"/>
          </a:p>
        </p:txBody>
      </p:sp>
      <p:sp>
        <p:nvSpPr>
          <p:cNvPr id="17" name="Text 14"/>
          <p:cNvSpPr/>
          <p:nvPr/>
        </p:nvSpPr>
        <p:spPr>
          <a:xfrm>
            <a:off x="2077998" y="6028373"/>
            <a:ext cx="2683550" cy="3353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1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OpenSearch / ES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2077998" y="6505456"/>
            <a:ext cx="5948839" cy="764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Full-text search capabilities for reviews and social media with fast query performance.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4037" y="2223968"/>
            <a:ext cx="6186488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Processing &amp; Analytics</a:t>
            </a:r>
            <a:endParaRPr lang="en-US" sz="4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4037" y="3403521"/>
            <a:ext cx="617220" cy="6172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4037" y="4329351"/>
            <a:ext cx="27432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Amazon Redshift</a:t>
            </a:r>
            <a:endParaRPr lang="en-US" sz="2150" dirty="0"/>
          </a:p>
        </p:txBody>
      </p:sp>
      <p:sp>
        <p:nvSpPr>
          <p:cNvPr id="5" name="Text 2"/>
          <p:cNvSpPr/>
          <p:nvPr/>
        </p:nvSpPr>
        <p:spPr>
          <a:xfrm>
            <a:off x="864037" y="4820364"/>
            <a:ext cx="4095036" cy="1185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Data warehouse optimized for fast OLAP queries and business intelligence reporting.</a:t>
            </a:r>
            <a:endParaRPr lang="en-US" sz="19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67682" y="3403521"/>
            <a:ext cx="617220" cy="6172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67682" y="4329351"/>
            <a:ext cx="27432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AWS EMR / Spark</a:t>
            </a:r>
            <a:endParaRPr lang="en-US" sz="2150" dirty="0"/>
          </a:p>
        </p:txBody>
      </p:sp>
      <p:sp>
        <p:nvSpPr>
          <p:cNvPr id="8" name="Text 4"/>
          <p:cNvSpPr/>
          <p:nvPr/>
        </p:nvSpPr>
        <p:spPr>
          <a:xfrm>
            <a:off x="5267682" y="4820364"/>
            <a:ext cx="4095036" cy="1185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Big data processing framework for ML feature engineering and large-scale computations.</a:t>
            </a:r>
            <a:endParaRPr lang="en-US" sz="19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71328" y="3403521"/>
            <a:ext cx="617220" cy="6172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1328" y="4329351"/>
            <a:ext cx="334077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Lambda + Step Functions</a:t>
            </a:r>
            <a:endParaRPr lang="en-US" sz="2150" dirty="0"/>
          </a:p>
        </p:txBody>
      </p:sp>
      <p:sp>
        <p:nvSpPr>
          <p:cNvPr id="11" name="Text 6"/>
          <p:cNvSpPr/>
          <p:nvPr/>
        </p:nvSpPr>
        <p:spPr>
          <a:xfrm>
            <a:off x="9671328" y="4820364"/>
            <a:ext cx="4095036" cy="790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Serverless transformations orchestrated through automated pipelines.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2958" y="630912"/>
            <a:ext cx="5737146" cy="637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Security &amp; Governance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02958" y="2747843"/>
            <a:ext cx="229433" cy="28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Prompt Light" pitchFamily="34" charset="0"/>
                <a:ea typeface="Prompt Light" pitchFamily="34" charset="-122"/>
                <a:cs typeface="Prompt Light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02958" y="3107174"/>
            <a:ext cx="4028361" cy="30480"/>
          </a:xfrm>
          <a:prstGeom prst="rect">
            <a:avLst/>
          </a:prstGeom>
          <a:solidFill>
            <a:srgbClr val="A95B95"/>
          </a:solidFill>
          <a:ln/>
        </p:spPr>
      </p:sp>
      <p:sp>
        <p:nvSpPr>
          <p:cNvPr id="5" name="Text 3"/>
          <p:cNvSpPr/>
          <p:nvPr/>
        </p:nvSpPr>
        <p:spPr>
          <a:xfrm>
            <a:off x="802958" y="3282791"/>
            <a:ext cx="2706410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IAM + KMS Encryption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02958" y="3814524"/>
            <a:ext cx="4028361" cy="70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Access control policies and key management for data protection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44440" y="2747843"/>
            <a:ext cx="229433" cy="28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Prompt Light" pitchFamily="34" charset="0"/>
                <a:ea typeface="Prompt Light" pitchFamily="34" charset="-122"/>
                <a:cs typeface="Prompt Light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44440" y="3107174"/>
            <a:ext cx="4028480" cy="30480"/>
          </a:xfrm>
          <a:prstGeom prst="rect">
            <a:avLst/>
          </a:prstGeom>
          <a:solidFill>
            <a:srgbClr val="A95B95"/>
          </a:solidFill>
          <a:ln/>
        </p:spPr>
      </p:sp>
      <p:sp>
        <p:nvSpPr>
          <p:cNvPr id="9" name="Text 7"/>
          <p:cNvSpPr/>
          <p:nvPr/>
        </p:nvSpPr>
        <p:spPr>
          <a:xfrm>
            <a:off x="5044440" y="3282791"/>
            <a:ext cx="2559487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AWS Lake Formation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44440" y="3814524"/>
            <a:ext cx="4028480" cy="70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Row and column-level permissions for granular data access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02958" y="4907875"/>
            <a:ext cx="229433" cy="286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Prompt Light" pitchFamily="34" charset="0"/>
                <a:ea typeface="Prompt Light" pitchFamily="34" charset="-122"/>
                <a:cs typeface="Prompt Light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02958" y="5267206"/>
            <a:ext cx="8269962" cy="30480"/>
          </a:xfrm>
          <a:prstGeom prst="rect">
            <a:avLst/>
          </a:prstGeom>
          <a:solidFill>
            <a:srgbClr val="A95B95"/>
          </a:solidFill>
          <a:ln/>
        </p:spPr>
      </p:sp>
      <p:sp>
        <p:nvSpPr>
          <p:cNvPr id="13" name="Text 11"/>
          <p:cNvSpPr/>
          <p:nvPr/>
        </p:nvSpPr>
        <p:spPr>
          <a:xfrm>
            <a:off x="802958" y="5442823"/>
            <a:ext cx="2549247" cy="3186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CloudTrail + Macie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2958" y="5974556"/>
            <a:ext cx="8269962" cy="354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8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Audit logging and automated PII detection for compliance</a:t>
            </a:r>
            <a:endParaRPr lang="en-US" sz="18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133" y="1827728"/>
            <a:ext cx="4194810" cy="5593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50437" y="1364813"/>
            <a:ext cx="54864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Consumption Layer</a:t>
            </a:r>
            <a:endParaRPr lang="en-US" sz="43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437" y="2420898"/>
            <a:ext cx="1234440" cy="148125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831693" y="2667714"/>
            <a:ext cx="281130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QuickSight / Tableau</a:t>
            </a:r>
            <a:endParaRPr lang="en-US" sz="2150" dirty="0"/>
          </a:p>
        </p:txBody>
      </p:sp>
      <p:sp>
        <p:nvSpPr>
          <p:cNvPr id="6" name="Text 2"/>
          <p:cNvSpPr/>
          <p:nvPr/>
        </p:nvSpPr>
        <p:spPr>
          <a:xfrm>
            <a:off x="7831693" y="3158728"/>
            <a:ext cx="5934670" cy="39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Interactive BI dashboards for business users</a:t>
            </a:r>
            <a:endParaRPr lang="en-US" sz="19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437" y="3902154"/>
            <a:ext cx="1234440" cy="1481257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31693" y="4148971"/>
            <a:ext cx="326421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SageMaker / Notebooks</a:t>
            </a:r>
            <a:endParaRPr lang="en-US" sz="2150" dirty="0"/>
          </a:p>
        </p:txBody>
      </p:sp>
      <p:sp>
        <p:nvSpPr>
          <p:cNvPr id="9" name="Text 4"/>
          <p:cNvSpPr/>
          <p:nvPr/>
        </p:nvSpPr>
        <p:spPr>
          <a:xfrm>
            <a:off x="7831693" y="4639985"/>
            <a:ext cx="5934670" cy="39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ML and data science experimentation environments</a:t>
            </a:r>
            <a:endParaRPr lang="en-US" sz="19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437" y="5383411"/>
            <a:ext cx="1234440" cy="1481257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831693" y="5630228"/>
            <a:ext cx="3047167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1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API Gateway + Lambda</a:t>
            </a:r>
            <a:endParaRPr lang="en-US" sz="2150" dirty="0"/>
          </a:p>
        </p:txBody>
      </p:sp>
      <p:sp>
        <p:nvSpPr>
          <p:cNvPr id="12" name="Text 6"/>
          <p:cNvSpPr/>
          <p:nvPr/>
        </p:nvSpPr>
        <p:spPr>
          <a:xfrm>
            <a:off x="7831693" y="6121241"/>
            <a:ext cx="5934670" cy="39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Customer 360 APIs for real-time data access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9298" y="702945"/>
            <a:ext cx="4540448" cy="5675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Problems Solved</a:t>
            </a:r>
            <a:endParaRPr lang="en-US" sz="3550" dirty="0"/>
          </a:p>
        </p:txBody>
      </p:sp>
      <p:sp>
        <p:nvSpPr>
          <p:cNvPr id="3" name="Shape 1"/>
          <p:cNvSpPr/>
          <p:nvPr/>
        </p:nvSpPr>
        <p:spPr>
          <a:xfrm>
            <a:off x="7303651" y="1608653"/>
            <a:ext cx="22860" cy="5917883"/>
          </a:xfrm>
          <a:prstGeom prst="roundRect">
            <a:avLst>
              <a:gd name="adj" fmla="val 375393"/>
            </a:avLst>
          </a:prstGeom>
          <a:solidFill>
            <a:srgbClr val="6D4562"/>
          </a:solidFill>
          <a:ln/>
        </p:spPr>
      </p:sp>
      <p:sp>
        <p:nvSpPr>
          <p:cNvPr id="4" name="Shape 2"/>
          <p:cNvSpPr/>
          <p:nvPr/>
        </p:nvSpPr>
        <p:spPr>
          <a:xfrm>
            <a:off x="1026438" y="1608653"/>
            <a:ext cx="6265783" cy="1225868"/>
          </a:xfrm>
          <a:prstGeom prst="roundRect">
            <a:avLst>
              <a:gd name="adj" fmla="val 7000"/>
            </a:avLst>
          </a:prstGeom>
          <a:solidFill>
            <a:srgbClr val="542C49"/>
          </a:solidFill>
          <a:ln w="7620">
            <a:solidFill>
              <a:srgbClr val="6D45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17745" y="1820585"/>
            <a:ext cx="2270165" cy="2837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Slow Reporting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1238369" y="2205752"/>
            <a:ext cx="5849541" cy="298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→ </a:t>
            </a:r>
            <a:r>
              <a:rPr lang="en-US" sz="1600" b="1" dirty="0">
                <a:solidFill>
                  <a:srgbClr val="EEAEF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Redshift OLAP</a:t>
            </a: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queries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37941" y="3172658"/>
            <a:ext cx="6265902" cy="1225868"/>
          </a:xfrm>
          <a:prstGeom prst="rect">
            <a:avLst/>
          </a:prstGeom>
          <a:solidFill>
            <a:srgbClr val="542C49"/>
          </a:solidFill>
          <a:ln w="7620">
            <a:solidFill>
              <a:srgbClr val="6D45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42252" y="3384590"/>
            <a:ext cx="2821067" cy="2837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No Single Customer View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7542252" y="3769757"/>
            <a:ext cx="5849660" cy="298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→ </a:t>
            </a:r>
            <a:r>
              <a:rPr lang="en-US" sz="1600" b="1" dirty="0">
                <a:solidFill>
                  <a:srgbClr val="EEAEF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RDS unified store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26438" y="4736663"/>
            <a:ext cx="6265783" cy="1225868"/>
          </a:xfrm>
          <a:prstGeom prst="roundRect">
            <a:avLst>
              <a:gd name="adj" fmla="val 7000"/>
            </a:avLst>
          </a:prstGeom>
          <a:solidFill>
            <a:srgbClr val="542C49"/>
          </a:solidFill>
          <a:ln w="7620">
            <a:solidFill>
              <a:srgbClr val="6D45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17745" y="4948595"/>
            <a:ext cx="2270165" cy="2837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Engineer Struggle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238369" y="5333762"/>
            <a:ext cx="5849541" cy="298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→ </a:t>
            </a:r>
            <a:r>
              <a:rPr lang="en-US" sz="1600" b="1" dirty="0">
                <a:solidFill>
                  <a:srgbClr val="EEAEF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Managed services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37941" y="6300668"/>
            <a:ext cx="6265902" cy="1225868"/>
          </a:xfrm>
          <a:prstGeom prst="rect">
            <a:avLst/>
          </a:prstGeom>
          <a:solidFill>
            <a:srgbClr val="542C49"/>
          </a:solidFill>
          <a:ln w="7620">
            <a:solidFill>
              <a:srgbClr val="6D45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2252" y="6512600"/>
            <a:ext cx="2270165" cy="2837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Security Concerns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542252" y="6897767"/>
            <a:ext cx="5849660" cy="2986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→ </a:t>
            </a:r>
            <a:r>
              <a:rPr lang="en-US" sz="1600" b="1" dirty="0">
                <a:solidFill>
                  <a:srgbClr val="EEAEF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IAM + KMS + CF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50437" y="2520434"/>
            <a:ext cx="54864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Key Metrics</a:t>
            </a:r>
            <a:endParaRPr lang="en-US" sz="4300" dirty="0"/>
          </a:p>
        </p:txBody>
      </p:sp>
      <p:sp>
        <p:nvSpPr>
          <p:cNvPr id="4" name="Text 1"/>
          <p:cNvSpPr/>
          <p:nvPr/>
        </p:nvSpPr>
        <p:spPr>
          <a:xfrm>
            <a:off x="6350437" y="3699867"/>
            <a:ext cx="3553658" cy="814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400"/>
              </a:lnSpc>
              <a:buNone/>
            </a:pPr>
            <a:r>
              <a:rPr lang="en-US" sz="64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2.8TB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6755606" y="4822984"/>
            <a:ext cx="27432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1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Daily Ingest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6350437" y="5313998"/>
            <a:ext cx="3553658" cy="39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Total data volume processed daily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0212705" y="3699867"/>
            <a:ext cx="3553658" cy="8146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400"/>
              </a:lnSpc>
              <a:buNone/>
            </a:pPr>
            <a:r>
              <a:rPr lang="en-US" sz="640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ap-south-1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10617875" y="4822984"/>
            <a:ext cx="27432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1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Region</a:t>
            </a:r>
            <a:endParaRPr lang="en-US" sz="2150" dirty="0"/>
          </a:p>
        </p:txBody>
      </p:sp>
      <p:sp>
        <p:nvSpPr>
          <p:cNvPr id="9" name="Text 6"/>
          <p:cNvSpPr/>
          <p:nvPr/>
        </p:nvSpPr>
        <p:spPr>
          <a:xfrm>
            <a:off x="10212705" y="5313998"/>
            <a:ext cx="3553658" cy="39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Mumbai for India-based operations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4037" y="3191708"/>
            <a:ext cx="6076831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400"/>
              </a:lnSpc>
              <a:buNone/>
            </a:pPr>
            <a:r>
              <a:rPr lang="en-US" sz="43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Architecture Overview</a:t>
            </a:r>
            <a:endParaRPr lang="en-US" sz="4300" dirty="0"/>
          </a:p>
        </p:txBody>
      </p:sp>
      <p:sp>
        <p:nvSpPr>
          <p:cNvPr id="4" name="Text 1"/>
          <p:cNvSpPr/>
          <p:nvPr/>
        </p:nvSpPr>
        <p:spPr>
          <a:xfrm>
            <a:off x="864037" y="4247793"/>
            <a:ext cx="7415927" cy="790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19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End-to-end data platform from ingestion through consumption, built on AWS managed services for scalability and reliability.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355</Words>
  <Application>Microsoft Office PowerPoint</Application>
  <PresentationFormat>Custom</PresentationFormat>
  <Paragraphs>84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Mukta Light</vt:lpstr>
      <vt:lpstr>Prompt Light</vt:lpstr>
      <vt:lpstr>Arial</vt:lpstr>
      <vt:lpstr>Prompt Medium</vt:lpstr>
      <vt:lpstr>Bricolage Grotesque Extra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Pratyush De</dc:creator>
  <cp:lastModifiedBy>Pratyush De</cp:lastModifiedBy>
  <cp:revision>3</cp:revision>
  <dcterms:created xsi:type="dcterms:W3CDTF">2026-03-18T04:49:09Z</dcterms:created>
  <dcterms:modified xsi:type="dcterms:W3CDTF">2026-05-06T03:06:26Z</dcterms:modified>
</cp:coreProperties>
</file>