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981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AF582-7566-0611-B206-22EA5E9ED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D5F7B-C1CB-944D-2EC6-38E2C5818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BEFA4-05B3-759E-2800-2EFA25001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70AB-7A4F-B79D-AACE-137389037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01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93259"/>
            <a:ext cx="651462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Cloud Data Architecture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360108" y="2342376"/>
            <a:ext cx="29059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E-Commerce Platform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350437" y="2918465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Scalable data infrastructure handling </a:t>
            </a:r>
            <a:r>
              <a:rPr lang="en-US" sz="1900" b="1" dirty="0">
                <a:solidFill>
                  <a:srgbClr val="EEAEF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2.8 TB daily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across AWS services in ap-south-1 region.</a:t>
            </a:r>
            <a:endParaRPr lang="en-US" sz="1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32CC4-3F51-05C6-ABF9-E7D5A3ACD8AB}"/>
              </a:ext>
            </a:extLst>
          </p:cNvPr>
          <p:cNvSpPr txBox="1"/>
          <p:nvPr/>
        </p:nvSpPr>
        <p:spPr>
          <a:xfrm>
            <a:off x="10058400" y="5521951"/>
            <a:ext cx="5022651" cy="215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Pratyush De - RA2512052010010</a:t>
            </a:r>
            <a:b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</a:br>
            <a: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Rahul Kumar - RA2512052010053</a:t>
            </a:r>
            <a:b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</a:br>
            <a: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Om Prakash Choudhury - RA2512052010035</a:t>
            </a:r>
            <a:b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</a:br>
            <a: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Soumya Rawat - RA2512052010056</a:t>
            </a:r>
            <a:b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</a:br>
            <a: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Sudhansu Sharma - RA2512052010054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C8ED9-69B8-255F-54B9-4340141193CE}"/>
              </a:ext>
            </a:extLst>
          </p:cNvPr>
          <p:cNvSpPr txBox="1"/>
          <p:nvPr/>
        </p:nvSpPr>
        <p:spPr>
          <a:xfrm>
            <a:off x="7315200" y="4276487"/>
            <a:ext cx="6919815" cy="444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Cloud Computing for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284" y="780336"/>
            <a:ext cx="4770715" cy="59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Sources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51284" y="1656517"/>
            <a:ext cx="7641431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Multiple high-volume data streams feeding the platform daily: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51284" y="2187416"/>
            <a:ext cx="7641431" cy="1175504"/>
          </a:xfrm>
          <a:prstGeom prst="roundRect">
            <a:avLst>
              <a:gd name="adj" fmla="val 767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3574" y="2409706"/>
            <a:ext cx="238529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Web Logs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3574" y="2819638"/>
            <a:ext cx="7196852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 TB per day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51284" y="3549491"/>
            <a:ext cx="7641431" cy="1175504"/>
          </a:xfrm>
          <a:prstGeom prst="roundRect">
            <a:avLst>
              <a:gd name="adj" fmla="val 767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3574" y="3771781"/>
            <a:ext cx="238529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73574" y="4181713"/>
            <a:ext cx="7196852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500 GB per day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51284" y="4911566"/>
            <a:ext cx="7641431" cy="1175504"/>
          </a:xfrm>
          <a:prstGeom prst="roundRect">
            <a:avLst>
              <a:gd name="adj" fmla="val 767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3574" y="5133856"/>
            <a:ext cx="238529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Reviews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73574" y="5543788"/>
            <a:ext cx="7196852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200 GB per day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51284" y="6273641"/>
            <a:ext cx="7641431" cy="1175504"/>
          </a:xfrm>
          <a:prstGeom prst="roundRect">
            <a:avLst>
              <a:gd name="adj" fmla="val 767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3574" y="6495931"/>
            <a:ext cx="238529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Social Media Feeds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73574" y="6905863"/>
            <a:ext cx="7196852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100 GB per day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4452E-9ECA-B3FC-BFB8-41EC63984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73F5EC4-55BE-71F9-DA17-E9358164A004}"/>
              </a:ext>
            </a:extLst>
          </p:cNvPr>
          <p:cNvSpPr/>
          <p:nvPr/>
        </p:nvSpPr>
        <p:spPr>
          <a:xfrm>
            <a:off x="751284" y="780336"/>
            <a:ext cx="4770715" cy="59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Proposed Architecture </a:t>
            </a:r>
            <a:endParaRPr lang="en-US" sz="4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DA5A37-7DD0-51C7-A07B-5FF43BEF9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356" y="1657978"/>
            <a:ext cx="8460725" cy="622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2750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Ingestion Layer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361248"/>
            <a:ext cx="8175665" cy="45630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9539" y="3156704"/>
            <a:ext cx="29013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Streaming &amp; Queuing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49539" y="3746421"/>
            <a:ext cx="4124325" cy="2542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AWS Kinesis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real-time streaming ingestion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Apache Kafka / MSK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message queue for reliable delivery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AWS Glue / Batch ETL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scheduled batch processing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5225" y="687586"/>
            <a:ext cx="5367099" cy="6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Storage Layer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845225" y="1712833"/>
            <a:ext cx="7453551" cy="1785580"/>
          </a:xfrm>
          <a:prstGeom prst="roundRect">
            <a:avLst>
              <a:gd name="adj" fmla="val 5681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5705" y="1743313"/>
            <a:ext cx="966073" cy="1724620"/>
          </a:xfrm>
          <a:prstGeom prst="roundRect">
            <a:avLst>
              <a:gd name="adj" fmla="val 6714"/>
            </a:avLst>
          </a:prstGeom>
          <a:solidFill>
            <a:srgbClr val="542C49"/>
          </a:solidFill>
          <a:ln/>
        </p:spPr>
      </p:sp>
      <p:sp>
        <p:nvSpPr>
          <p:cNvPr id="6" name="Text 3"/>
          <p:cNvSpPr/>
          <p:nvPr/>
        </p:nvSpPr>
        <p:spPr>
          <a:xfrm>
            <a:off x="1173837" y="2379226"/>
            <a:ext cx="362188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2077998" y="1984772"/>
            <a:ext cx="2683550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S3 Data Lake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077998" y="2461855"/>
            <a:ext cx="5948839" cy="76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Raw and processed data zones with petabyte-scale storage at low cost.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45225" y="3734633"/>
            <a:ext cx="7453551" cy="1785580"/>
          </a:xfrm>
          <a:prstGeom prst="roundRect">
            <a:avLst>
              <a:gd name="adj" fmla="val 5681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5705" y="3765113"/>
            <a:ext cx="966073" cy="1724620"/>
          </a:xfrm>
          <a:prstGeom prst="roundRect">
            <a:avLst>
              <a:gd name="adj" fmla="val 6714"/>
            </a:avLst>
          </a:prstGeom>
          <a:solidFill>
            <a:srgbClr val="542C49"/>
          </a:solidFill>
          <a:ln/>
        </p:spPr>
      </p:sp>
      <p:sp>
        <p:nvSpPr>
          <p:cNvPr id="11" name="Text 8"/>
          <p:cNvSpPr/>
          <p:nvPr/>
        </p:nvSpPr>
        <p:spPr>
          <a:xfrm>
            <a:off x="1173837" y="4401026"/>
            <a:ext cx="362188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2077998" y="4006572"/>
            <a:ext cx="2683550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RDS + DynamoDB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077998" y="4483656"/>
            <a:ext cx="5948839" cy="76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Structured transaction storage with unified single customer view.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45225" y="5756434"/>
            <a:ext cx="7453551" cy="1785580"/>
          </a:xfrm>
          <a:prstGeom prst="roundRect">
            <a:avLst>
              <a:gd name="adj" fmla="val 5681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5705" y="5786914"/>
            <a:ext cx="966073" cy="1724620"/>
          </a:xfrm>
          <a:prstGeom prst="roundRect">
            <a:avLst>
              <a:gd name="adj" fmla="val 6714"/>
            </a:avLst>
          </a:prstGeom>
          <a:solidFill>
            <a:srgbClr val="542C49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837" y="6422827"/>
            <a:ext cx="362188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2077998" y="6028373"/>
            <a:ext cx="2683550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OpenSearch / ES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077998" y="6505456"/>
            <a:ext cx="5948839" cy="76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Full-text search capabilities for reviews and social media with fast query performance.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23968"/>
            <a:ext cx="618648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Processing &amp; Analytics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037" y="3403521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432935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Amazon Redshift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4820364"/>
            <a:ext cx="40950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warehouse optimized for fast OLAP queries and business intelligence reporting.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7682" y="3403521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7682" y="432935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AWS EMR / Spark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67682" y="4820364"/>
            <a:ext cx="40950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Big data processing framework for ML feature engineering and large-scale computations.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1328" y="3403521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1328" y="4329351"/>
            <a:ext cx="33407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Lambda + Step Functions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671328" y="4820364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Serverless transformations orchestrated through automated pipelines.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958" y="630912"/>
            <a:ext cx="5737146" cy="637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Security &amp; Governance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02958" y="2747843"/>
            <a:ext cx="22943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2958" y="3107174"/>
            <a:ext cx="402836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5" name="Text 3"/>
          <p:cNvSpPr/>
          <p:nvPr/>
        </p:nvSpPr>
        <p:spPr>
          <a:xfrm>
            <a:off x="802958" y="3282791"/>
            <a:ext cx="2706410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IAM + KMS Encryption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2958" y="3814524"/>
            <a:ext cx="4028361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Access control policies and key management for data protection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44440" y="2747843"/>
            <a:ext cx="22943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44440" y="3107174"/>
            <a:ext cx="4028480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9" name="Text 7"/>
          <p:cNvSpPr/>
          <p:nvPr/>
        </p:nvSpPr>
        <p:spPr>
          <a:xfrm>
            <a:off x="5044440" y="3282791"/>
            <a:ext cx="2559487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AWS Lake Formation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44440" y="3814524"/>
            <a:ext cx="4028480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Row and column-level permissions for granular data access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2958" y="4907875"/>
            <a:ext cx="22943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2958" y="5267206"/>
            <a:ext cx="8269962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802958" y="5442823"/>
            <a:ext cx="2549247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CloudTrail + Macie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2958" y="5974556"/>
            <a:ext cx="8269962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Audit logging and automated PII detection for compliance</a:t>
            </a:r>
            <a:endParaRPr lang="en-US" sz="18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1827728"/>
            <a:ext cx="4194810" cy="5593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6481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Consumption Layer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2420898"/>
            <a:ext cx="1234440" cy="1481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31693" y="2667714"/>
            <a:ext cx="281130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QuickSight / Tableau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831693" y="3158728"/>
            <a:ext cx="59346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Interactive BI dashboards for business users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3902154"/>
            <a:ext cx="1234440" cy="1481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31693" y="4148971"/>
            <a:ext cx="326421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SageMaker / Notebooks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831693" y="4639985"/>
            <a:ext cx="59346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ML and data science experimentation environments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437" y="5383411"/>
            <a:ext cx="1234440" cy="1481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31693" y="5630228"/>
            <a:ext cx="30471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API Gateway + Lambda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831693" y="6121241"/>
            <a:ext cx="59346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 360 APIs for real-time data access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298" y="702945"/>
            <a:ext cx="4540448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Problems Solved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303651" y="1608653"/>
            <a:ext cx="22860" cy="5917883"/>
          </a:xfrm>
          <a:prstGeom prst="roundRect">
            <a:avLst>
              <a:gd name="adj" fmla="val 375393"/>
            </a:avLst>
          </a:prstGeom>
          <a:solidFill>
            <a:srgbClr val="6D4562"/>
          </a:solidFill>
          <a:ln/>
        </p:spPr>
      </p:sp>
      <p:sp>
        <p:nvSpPr>
          <p:cNvPr id="4" name="Shape 2"/>
          <p:cNvSpPr/>
          <p:nvPr/>
        </p:nvSpPr>
        <p:spPr>
          <a:xfrm>
            <a:off x="1026438" y="1608653"/>
            <a:ext cx="6265783" cy="1225868"/>
          </a:xfrm>
          <a:prstGeom prst="roundRect">
            <a:avLst>
              <a:gd name="adj" fmla="val 700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17745" y="1820585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Slow Reporting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8369" y="2205752"/>
            <a:ext cx="5849541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→ </a:t>
            </a:r>
            <a:r>
              <a:rPr lang="en-US" sz="1600" b="1" dirty="0">
                <a:solidFill>
                  <a:srgbClr val="EEAEF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Redshift OLAP</a:t>
            </a: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queries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37941" y="3172658"/>
            <a:ext cx="6265902" cy="1225868"/>
          </a:xfrm>
          <a:prstGeom prst="rect">
            <a:avLst/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2252" y="3384590"/>
            <a:ext cx="2821067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 Single Customer View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2252" y="3769757"/>
            <a:ext cx="584966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→ </a:t>
            </a:r>
            <a:r>
              <a:rPr lang="en-US" sz="1600" b="1" dirty="0">
                <a:solidFill>
                  <a:srgbClr val="EEAEF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RDS unified store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6438" y="4736663"/>
            <a:ext cx="6265783" cy="1225868"/>
          </a:xfrm>
          <a:prstGeom prst="roundRect">
            <a:avLst>
              <a:gd name="adj" fmla="val 700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7745" y="4948595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Engineer Struggle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238369" y="5333762"/>
            <a:ext cx="5849541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→ </a:t>
            </a:r>
            <a:r>
              <a:rPr lang="en-US" sz="1600" b="1" dirty="0">
                <a:solidFill>
                  <a:srgbClr val="EEAEF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Managed services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7941" y="6300668"/>
            <a:ext cx="6265902" cy="1225868"/>
          </a:xfrm>
          <a:prstGeom prst="rect">
            <a:avLst/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2252" y="6512600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Security Concerns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2252" y="6897767"/>
            <a:ext cx="584966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→ </a:t>
            </a:r>
            <a:r>
              <a:rPr lang="en-US" sz="1600" b="1" dirty="0">
                <a:solidFill>
                  <a:srgbClr val="EEAEF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IAM + KMS + CF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520434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Metrics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699867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2.8TB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755606" y="482298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Daily Ingest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5313998"/>
            <a:ext cx="35536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Total data volume processed daily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212705" y="3699867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ap-south-1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10617875" y="482298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Region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212705" y="5313998"/>
            <a:ext cx="35536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Mumbai for India-based operations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191708"/>
            <a:ext cx="607683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Architecture Overview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2477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End-to-end data platform from ingestion through consumption, built on AWS managed services for scalability and reliability.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355</Words>
  <Application>Microsoft Office PowerPoint</Application>
  <PresentationFormat>Custom</PresentationFormat>
  <Paragraphs>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Mukta Light</vt:lpstr>
      <vt:lpstr>Arial</vt:lpstr>
      <vt:lpstr>Prompt Light</vt:lpstr>
      <vt:lpstr>Prompt Medium</vt:lpstr>
      <vt:lpstr>Bricolage Grotesque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Pratyush De</dc:creator>
  <cp:lastModifiedBy>Pratyush De</cp:lastModifiedBy>
  <cp:revision>2</cp:revision>
  <dcterms:created xsi:type="dcterms:W3CDTF">2026-03-18T04:49:09Z</dcterms:created>
  <dcterms:modified xsi:type="dcterms:W3CDTF">2026-03-18T05:02:41Z</dcterms:modified>
</cp:coreProperties>
</file>